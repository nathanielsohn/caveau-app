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5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4840" y="1783080"/>
            <a:ext cx="3291840" cy="3291840"/>
          </a:xfrm>
          <a:prstGeom prst="ellipse">
            <a:avLst/>
          </a:prstGeom>
          <a:solidFill>
            <a:srgbClr val="2F7FD4">
              <a:alpha val="8000"/>
            </a:srgbClr>
          </a:solidFill>
          <a:ln w="12700">
            <a:solidFill>
              <a:srgbClr val="2F7FD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2331720"/>
            <a:ext cx="2194560" cy="2194560"/>
          </a:xfrm>
          <a:prstGeom prst="ellipse">
            <a:avLst/>
          </a:prstGeom>
          <a:solidFill>
            <a:srgbClr val="2F7FD4">
              <a:alpha val="13000"/>
            </a:srgbClr>
          </a:solidFill>
          <a:ln w="12700">
            <a:solidFill>
              <a:srgbClr val="2F7FD4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94760" y="1143000"/>
            <a:ext cx="4572000" cy="457200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1C2D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6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1200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0" y="39319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with Confidence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29768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Wine Storage  ·  Investment Intelligence  ·  AI Advisor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INVESTOR PRESENTATION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is a $4B+ asset class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like a hobby.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90195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CellarTracker has 1M+ users and $750K in revenue — 17 years of evidence that the demand is real and the pricing problem is massive.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788920"/>
            <a:ext cx="3063240" cy="126187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788920"/>
            <a:ext cx="45720" cy="1261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live valuations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36301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stale. Collectors don't know what their collection is worth today.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2788920"/>
            <a:ext cx="3063240" cy="126187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2788920"/>
            <a:ext cx="45720" cy="1261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95928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is disconnected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95928" y="36301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alerts live in a separate app — not linked to portfolio value.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178808"/>
            <a:ext cx="3063240" cy="126187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178808"/>
            <a:ext cx="45720" cy="1261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" y="4745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exit 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" y="50200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sell, to whom, through which channel — no platform addresses this.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4178808"/>
            <a:ext cx="3063240" cy="126187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4178808"/>
            <a:ext cx="45720" cy="1261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5928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95928" y="4745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gap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95928" y="50200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homeowner policies cap wine at $1–5K. Collectors are dangerously underinsured.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0" y="530352"/>
            <a:ext cx="4572000" cy="120700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CellarTracker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9509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users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26880" y="950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 ARR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1188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years · massively undermonetized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0" y="1865376"/>
            <a:ext cx="4572000" cy="120700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993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Vivino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98080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 users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26880" y="2286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$130M ARR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25237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Mass-market · not collector-grade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0" y="3200400"/>
            <a:ext cx="4572000" cy="120700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3328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InVintory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0" y="3621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users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26880" y="3621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 ARR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38587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asset · software only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15200" y="4535424"/>
            <a:ext cx="4572000" cy="1207008"/>
          </a:xfrm>
          <a:prstGeom prst="rect">
            <a:avLst/>
          </a:prstGeom>
          <a:solidFill>
            <a:srgbClr val="0D1E3A"/>
          </a:solidFill>
          <a:ln w="9525">
            <a:solidFill>
              <a:srgbClr val="7A6430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4535424"/>
            <a:ext cx="45720" cy="1207008"/>
          </a:xfrm>
          <a:prstGeom prst="rect">
            <a:avLst/>
          </a:prstGeom>
          <a:solidFill>
            <a:srgbClr val="7A6430"/>
          </a:solidFill>
          <a:ln w="12700">
            <a:solidFill>
              <a:srgbClr val="7A64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4663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Carl's Wine Vault  ·  Naples, FL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4956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ONLY LOCAL COMPETITOR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98080" y="51937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manual valuation · no app · no AI · no exit facilitation · no membership tiers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0" y="6291072"/>
            <a:ext cx="4572000" cy="457200"/>
          </a:xfrm>
          <a:prstGeom prst="rect">
            <a:avLst/>
          </a:prstGeom>
          <a:solidFill>
            <a:srgbClr val="0D1E3A"/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63459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track bottles. We manage assets.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 wine moves with the market.</a:t>
            </a:r>
            <a:endParaRPr lang="en-US" sz="2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not as far — and recovers faster.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9344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 · 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97510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and Israel struck Iran. Oil spiked 25%+ in a single session. The Strait of Hormuz effectively closed. Global equity markets fell sharply. Fine wine saw no panic selling, no margin calls, no algorithmic liquidation.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816352"/>
            <a:ext cx="1207008" cy="932688"/>
          </a:xfrm>
          <a:prstGeom prst="rect">
            <a:avLst/>
          </a:prstGeom>
          <a:solidFill>
            <a:srgbClr val="0D1E3A"/>
          </a:solidFill>
          <a:ln w="9525">
            <a:solidFill>
              <a:srgbClr val="E05A5A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0779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-2%+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Mar 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783080" y="2816352"/>
            <a:ext cx="1207008" cy="932688"/>
          </a:xfrm>
          <a:prstGeom prst="rect">
            <a:avLst/>
          </a:prstGeom>
          <a:solidFill>
            <a:srgbClr val="0D1E3A"/>
          </a:solidFill>
          <a:ln w="9525">
            <a:solidFill>
              <a:srgbClr val="E05A5A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90779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74520" y="3108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-2.6%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3474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session low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2816352"/>
            <a:ext cx="1207008" cy="93268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90779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54680" y="3108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3474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session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43400" y="2816352"/>
            <a:ext cx="1207008" cy="932688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90779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Wine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34840" y="3108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selloff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3474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collector-held asset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877056"/>
            <a:ext cx="5120640" cy="713232"/>
          </a:xfrm>
          <a:prstGeom prst="rect">
            <a:avLst/>
          </a:prstGeom>
          <a:solidFill>
            <a:srgbClr val="091628"/>
          </a:solidFill>
          <a:ln w="12700">
            <a:solidFill>
              <a:srgbClr val="4A9AE8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877056"/>
            <a:ext cx="36576" cy="713232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950208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wine is not immune to downturns — it is correlated, but at significantly lower magnitude. The structural advantage is smaller drawdowns and faster recovery, driven by a collector base that holds through volatility rather than sells into it.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17373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COMPARISON  ·  FINE WINE VS. EQUITIES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89320" y="1993392"/>
            <a:ext cx="5669280" cy="969264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1993392"/>
            <a:ext cx="45720" cy="9692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206654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 Financial Crisis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53912" y="2340864"/>
            <a:ext cx="1188720" cy="256032"/>
          </a:xfrm>
          <a:prstGeom prst="rect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2359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Wine: -9%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34072" y="2340864"/>
            <a:ext cx="1280160" cy="256032"/>
          </a:xfrm>
          <a:prstGeom prst="rect">
            <a:avLst/>
          </a:prstGeom>
          <a:solidFill>
            <a:srgbClr val="E05A5A">
              <a:alpha val="18000"/>
            </a:srgbClr>
          </a:solidFill>
          <a:ln w="12700">
            <a:solidFill>
              <a:srgbClr val="E05A5A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0648" y="23591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Equities: -38%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53912" y="26517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recovered in ~18 months vs. 4+ years for S&amp;P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89320" y="3054096"/>
            <a:ext cx="5669280" cy="969264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3054096"/>
            <a:ext cx="45720" cy="9692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3912" y="312724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 COVID Shock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53912" y="3401568"/>
            <a:ext cx="1188720" cy="256032"/>
          </a:xfrm>
          <a:prstGeom prst="rect">
            <a:avLst/>
          </a:prstGeom>
          <a:solidFill>
            <a:srgbClr val="3DD68C">
              <a:alpha val="18000"/>
            </a:srgbClr>
          </a:solidFill>
          <a:ln w="12700">
            <a:solidFill>
              <a:srgbClr val="3DD68C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3419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Wine: +5.4%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34072" y="3401568"/>
            <a:ext cx="1280160" cy="256032"/>
          </a:xfrm>
          <a:prstGeom prst="rect">
            <a:avLst/>
          </a:prstGeom>
          <a:solidFill>
            <a:srgbClr val="E05A5A">
              <a:alpha val="18000"/>
            </a:srgbClr>
          </a:solidFill>
          <a:ln w="12700">
            <a:solidFill>
              <a:srgbClr val="E05A5A">
                <a:alpha val="3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0648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Equities: -34%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53912" y="37124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Liv-ex Fine Wine 100 rose while equities collapsed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89320" y="4114800"/>
            <a:ext cx="5669280" cy="969264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89320" y="4114800"/>
            <a:ext cx="45720" cy="9692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3912" y="418795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 Rate Hike Cycle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53912" y="4462272"/>
            <a:ext cx="1188720" cy="256032"/>
          </a:xfrm>
          <a:prstGeom prst="rect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4480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Wine: -17%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434072" y="4462272"/>
            <a:ext cx="1280160" cy="256032"/>
          </a:xfrm>
          <a:prstGeom prst="rect">
            <a:avLst/>
          </a:prstGeom>
          <a:solidFill>
            <a:srgbClr val="E05A5A">
              <a:alpha val="18000"/>
            </a:srgbClr>
          </a:solidFill>
          <a:ln w="12700">
            <a:solidFill>
              <a:srgbClr val="E05A5A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0648" y="4480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Equities: -19%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53912" y="47731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drawdown — wine then stabilised as rates peaked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89320" y="5175504"/>
            <a:ext cx="5669280" cy="969264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9320" y="5175504"/>
            <a:ext cx="45720" cy="9692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53912" y="524865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Iran Conflict (live)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53912" y="5522976"/>
            <a:ext cx="1188720" cy="256032"/>
          </a:xfrm>
          <a:prstGeom prst="rect">
            <a:avLst/>
          </a:prstGeom>
          <a:solidFill>
            <a:srgbClr val="3DD68C">
              <a:alpha val="18000"/>
            </a:srgbClr>
          </a:solidFill>
          <a:ln w="12700">
            <a:solidFill>
              <a:srgbClr val="3DD68C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0488" y="5541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Wine: Stable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434072" y="5522976"/>
            <a:ext cx="1280160" cy="256032"/>
          </a:xfrm>
          <a:prstGeom prst="rect">
            <a:avLst/>
          </a:prstGeom>
          <a:solidFill>
            <a:srgbClr val="E05A5A">
              <a:alpha val="18000"/>
            </a:srgbClr>
          </a:solidFill>
          <a:ln w="12700">
            <a:solidFill>
              <a:srgbClr val="E05A5A">
                <a:alpha val="3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70648" y="5541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Equities: -2%+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53912" y="5833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panic selling; collector base held through volatility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2920" y="6364224"/>
            <a:ext cx="11155680" cy="384048"/>
          </a:xfrm>
          <a:prstGeom prst="rect">
            <a:avLst/>
          </a:prstGeom>
          <a:solidFill>
            <a:srgbClr val="091628"/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Liv-ex Investables: +2,050% since 1988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09160" y="6473952"/>
            <a:ext cx="9144" cy="256032"/>
          </a:xfrm>
          <a:prstGeom prst="rect">
            <a:avLst/>
          </a:prstGeom>
          <a:solidFill>
            <a:srgbClr val="1C2D46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6419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drawdowns · Faster recovery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001000" y="6473952"/>
            <a:ext cx="9144" cy="256032"/>
          </a:xfrm>
          <a:prstGeom prst="rect">
            <a:avLst/>
          </a:prstGeom>
          <a:solidFill>
            <a:srgbClr val="1C2D46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838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· Scarce · Collector-held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banking for wine.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platform to combine physical vault storage, investment-grade intelligence, and AI advisory — built exclusively for serious private collectors.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76272"/>
            <a:ext cx="3627120" cy="3566160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76272"/>
            <a:ext cx="36271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3297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Wine Storage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456432"/>
            <a:ext cx="3297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Two-location Naples infrastructure: a Fifth Avenue South showroom for member experience, and an industrial vault near Naples Airport — above flood zone, generator-backed, built to post-Ian Florida 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7200" y="2176272"/>
            <a:ext cx="3627120" cy="3566160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7200" y="2176272"/>
            <a:ext cx="362712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00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50080" y="2944368"/>
            <a:ext cx="3297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50080" y="3456432"/>
            <a:ext cx="3297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from Liv-ex. Exit signals. Portfolio weight. Historical performance. Critic score alerts. Your collection, valued every day.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31480" y="2176272"/>
            <a:ext cx="3627120" cy="3566160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1480" y="2176272"/>
            <a:ext cx="362712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436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◎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14360" y="2944368"/>
            <a:ext cx="3297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Advisor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14360" y="3456432"/>
            <a:ext cx="3297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AI trained on every market move, every vintage, every exit. White-glove intelligence that scales to any membership size.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6473952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all three. Most have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feature earns its place.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mobile-first for Private Vault members. Every screen connects storage, valuation, and intelligence.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5212080" cy="129844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45720" cy="1298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6152" y="17739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10312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value, YTD performance, exit signals and advisor prompts — one view.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572768"/>
            <a:ext cx="5212080" cy="129844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572768"/>
            <a:ext cx="45720" cy="1298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02552" y="17739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Cellar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02552" y="210312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collection management with QR scanning and white-glove import from CellarTracker/Vivino.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5212080" cy="129844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17520"/>
            <a:ext cx="45720" cy="1298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16152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Intelligence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16152" y="354787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positions at projected peak with 60–90 day sell window guidance.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3017520"/>
            <a:ext cx="5212080" cy="1298448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3017520"/>
            <a:ext cx="45720" cy="1298448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02552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 &amp; Secure Delivery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02552" y="354787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IoT sensor feeds per unit. Biometric-verified delivery with driver ID scan at handoff.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462272"/>
            <a:ext cx="5212080" cy="1298448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62272"/>
            <a:ext cx="45720" cy="1298448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16152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Advisor Chat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16152" y="499262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portfolio live. Answers valuation, market, exit, and insurance questions in real time.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4462272"/>
            <a:ext cx="5212080" cy="129844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4462272"/>
            <a:ext cx="45720" cy="1298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02552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+ Events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02552" y="499262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education, market briefings, tastings, and exclusive dinners at Caveau Naples.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F3D72"/>
          </a:solidFill>
          <a:ln w="12700">
            <a:solidFill>
              <a:srgbClr val="0F3D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F7FD4">
              <a:alpha val="12000"/>
            </a:srgbClr>
          </a:solidFill>
          <a:ln w="12700">
            <a:solidFill>
              <a:srgbClr val="2F7F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65760"/>
            <a:ext cx="3840480" cy="3840480"/>
          </a:xfrm>
          <a:prstGeom prst="ellipse">
            <a:avLst/>
          </a:prstGeom>
          <a:solidFill>
            <a:srgbClr val="2F7FD4">
              <a:alpha val="9000"/>
            </a:srgbClr>
          </a:solidFill>
          <a:ln w="12700">
            <a:solidFill>
              <a:srgbClr val="2F7FD4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Institutional-grade AI.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every market move,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vintage, every exit.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280160" cy="310896"/>
          </a:xfrm>
          <a:prstGeom prst="rect">
            <a:avLst/>
          </a:prstGeom>
          <a:solidFill>
            <a:srgbClr val="0A2010"/>
          </a:solidFill>
          <a:ln w="9525">
            <a:solidFill>
              <a:srgbClr val="3DD6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3749040"/>
            <a:ext cx="109728" cy="109728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7124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3840480" cy="1554480"/>
          </a:xfrm>
          <a:prstGeom prst="rect">
            <a:avLst/>
          </a:prstGeom>
          <a:solidFill>
            <a:srgbClr val="0D1E3A"/>
          </a:solidFill>
          <a:ln w="9525">
            <a:solidFill>
              <a:srgbClr val="2F7FD4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8280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85–90%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58368" y="54864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advisory Q&amp;A handled by AI at scale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 human advisor per 40–50 members today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4023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0640" y="621792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anything.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answers, not links.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20640" y="1783080"/>
            <a:ext cx="6492240" cy="347472"/>
          </a:xfrm>
          <a:prstGeom prst="rect">
            <a:avLst/>
          </a:prstGeom>
          <a:solidFill>
            <a:srgbClr val="2F7FD4">
              <a:alpha val="12000"/>
            </a:srgbClr>
          </a:solidFill>
          <a:ln w="12700">
            <a:solidFill>
              <a:srgbClr val="2F7FD4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83794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my best exit opportunity right now?"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185416"/>
            <a:ext cx="6217920" cy="36576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2402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Screaming Eagle 2019 — up 21.3% at projected peak. 60–90 day window open.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898648"/>
            <a:ext cx="6492240" cy="347472"/>
          </a:xfrm>
          <a:prstGeom prst="rect">
            <a:avLst/>
          </a:prstGeom>
          <a:solidFill>
            <a:srgbClr val="2F7FD4">
              <a:alpha val="12000"/>
            </a:srgbClr>
          </a:solidFill>
          <a:ln w="12700">
            <a:solidFill>
              <a:srgbClr val="2F7FD4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95351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am I positioned vs the Liv-ex 100?"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300984"/>
            <a:ext cx="6217920" cy="36576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3558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Portfolio outperforming FW100 by ~7.6% YTD. Burgundy exposure is low.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4014216"/>
            <a:ext cx="6492240" cy="347472"/>
          </a:xfrm>
          <a:prstGeom prst="rect">
            <a:avLst/>
          </a:prstGeom>
          <a:solidFill>
            <a:srgbClr val="2F7FD4">
              <a:alpha val="12000"/>
            </a:srgbClr>
          </a:solidFill>
          <a:ln w="12700">
            <a:solidFill>
              <a:srgbClr val="2F7FD4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406908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worry about the V-22 humidity alert?"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4416552"/>
            <a:ext cx="6217920" cy="36576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47141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74% is borderline. Cork integrity at risk past 6 weeks. Recommend relocation.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20640" y="5129784"/>
            <a:ext cx="6492240" cy="347472"/>
          </a:xfrm>
          <a:prstGeom prst="rect">
            <a:avLst/>
          </a:prstGeom>
          <a:solidFill>
            <a:srgbClr val="2F7FD4">
              <a:alpha val="12000"/>
            </a:srgbClr>
          </a:solidFill>
          <a:ln w="12700">
            <a:solidFill>
              <a:srgbClr val="2F7FD4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518464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full insurance cost for my collection?"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5532120"/>
            <a:ext cx="6217920" cy="36576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55869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Expect $400–800/yr with Chubb or AXA XL. I can prep your appraisal brief.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6236208"/>
            <a:ext cx="6492240" cy="457200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62727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 — trained on live Liv-ex feeds, member portfolio data, and critic score releases. Not a static chatbot.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COMPLIANCE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at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step.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identity verification on every delivery — protecting members, protecting the business, satisfying Florida alcohol delivery compliance.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3145536"/>
            <a:ext cx="3566160" cy="694944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145536"/>
            <a:ext cx="45720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218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3-Layer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321868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before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fires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950208"/>
            <a:ext cx="3566160" cy="694944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950208"/>
            <a:ext cx="45720" cy="69494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023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4023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scan at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3566160" cy="694944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754880"/>
            <a:ext cx="45720" cy="69494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828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8280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exposure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protocol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5559552"/>
            <a:ext cx="3566160" cy="694944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559552"/>
            <a:ext cx="45720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56327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2-Site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56327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Ave showroom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airport vault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APP-SIDE VERIFICATION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530352"/>
            <a:ext cx="11155680" cy="9144"/>
          </a:xfrm>
          <a:prstGeom prst="rect">
            <a:avLst/>
          </a:prstGeom>
          <a:solidFill>
            <a:srgbClr val="4A9AE8">
              <a:alpha val="45000"/>
            </a:srgbClr>
          </a:solidFill>
          <a:ln w="12700">
            <a:solidFill>
              <a:srgbClr val="4A9AE8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DELIVERY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530352"/>
            <a:ext cx="11155680" cy="9144"/>
          </a:xfrm>
          <a:prstGeom prst="rect">
            <a:avLst/>
          </a:prstGeom>
          <a:solidFill>
            <a:srgbClr val="C9A84C">
              <a:alpha val="45000"/>
            </a:srgbClr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530352"/>
            <a:ext cx="3474720" cy="9144"/>
          </a:xfrm>
          <a:prstGeom prst="rect">
            <a:avLst/>
          </a:prstGeom>
          <a:solidFill>
            <a:srgbClr val="4A9AE8">
              <a:alpha val="45000"/>
            </a:srgbClr>
          </a:solidFill>
          <a:ln w="12700">
            <a:solidFill>
              <a:srgbClr val="4A9AE8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658368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01184" y="804672"/>
            <a:ext cx="347472" cy="347472"/>
          </a:xfrm>
          <a:prstGeom prst="ellipse">
            <a:avLst/>
          </a:prstGeom>
          <a:solidFill>
            <a:srgbClr val="4A9AE8">
              <a:alpha val="80000"/>
            </a:srgbClr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804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Re-Auth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01184" y="1170432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Touch ID at Deliver Now — same standard as Apple Pay. Timestamped, logged.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1993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103120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2249424"/>
            <a:ext cx="347472" cy="347472"/>
          </a:xfrm>
          <a:prstGeom prst="ellipse">
            <a:avLst/>
          </a:prstGeom>
          <a:solidFill>
            <a:srgbClr val="4A9AE8">
              <a:alpha val="80000"/>
            </a:srgbClr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PIN Fallback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01184" y="261518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Member-set 4–6 digit PIN, separate from login. Eliminates shared-password risk.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438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547872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01184" y="3694176"/>
            <a:ext cx="347472" cy="347472"/>
          </a:xfrm>
          <a:prstGeom prst="ellipse">
            <a:avLst/>
          </a:prstGeom>
          <a:solidFill>
            <a:srgbClr val="4A9AE8">
              <a:alpha val="80000"/>
            </a:srgbClr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924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Confirmation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01184" y="405993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address tap required. Pre-filled defaults cannot fire without acknowledgment.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09360" y="48828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4992624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01184" y="5138928"/>
            <a:ext cx="347472" cy="347472"/>
          </a:xfrm>
          <a:prstGeom prst="ellipse">
            <a:avLst/>
          </a:prstGeom>
          <a:solidFill>
            <a:srgbClr val="4A9AE8">
              <a:alpha val="80000"/>
            </a:srgbClr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5138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49240" y="5138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OTP (&gt;$2K)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01184" y="550468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delivery over $2,000 triggers an SMS one-time code — matching bank wire auth.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58200" y="658368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04504" y="804672"/>
            <a:ext cx="347472" cy="347472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04504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052560" y="804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Scan at Door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604504" y="1170432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Government-issued photo ID scanned. Name confirmed before any bottle changes hands.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012680" y="1993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58200" y="2103120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04504" y="2249424"/>
            <a:ext cx="347472" cy="347472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04504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052560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Must Match Account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604504" y="261518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Non-match = no delivery. Driver contacts member to resolve or reschedules.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012680" y="3438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458200" y="3547872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04504" y="3694176"/>
            <a:ext cx="347472" cy="347472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04504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05256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Recipient Registry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604504" y="405993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 named secondaries (spouse, house manager). Same ID scan required.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0012680" y="48828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458200" y="4992624"/>
            <a:ext cx="3474720" cy="1316736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04504" y="5138928"/>
            <a:ext cx="347472" cy="347472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04504" y="5138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052560" y="5138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Timestamp Log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604504" y="550468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captures ID + delivery photo. Both auto-logged. Complete custody audit trail.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754880" y="6382512"/>
            <a:ext cx="717804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54880" y="6382512"/>
            <a:ext cx="7178040" cy="27432"/>
          </a:xfrm>
          <a:prstGeom prst="rect">
            <a:avLst/>
          </a:prstGeom>
          <a:solidFill>
            <a:srgbClr val="3DD68C">
              <a:alpha val="60000"/>
            </a:srgbClr>
          </a:solidFill>
          <a:ln w="12700">
            <a:solidFill>
              <a:srgbClr val="3DD68C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37760" y="6400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Florida Compliance: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766560" y="64008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meets Florida DABT delivery requirements — recipient must be 21+, present, and ID-verified. Every delivery generates a complete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PRICING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tiers. One clear logic.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serves a distinct customer profile — and feeds the next tier. Center-stage pricing drives Private Vault conversion.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720340" cy="4754880"/>
          </a:xfrm>
          <a:prstGeom prst="rect">
            <a:avLst/>
          </a:prstGeom>
          <a:solidFill>
            <a:srgbClr val="0D1E3A"/>
          </a:solidFill>
          <a:ln w="9525">
            <a:solidFill>
              <a:srgbClr val="7A90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2720340" cy="54864"/>
          </a:xfrm>
          <a:prstGeom prst="rect">
            <a:avLst/>
          </a:prstGeom>
          <a:solidFill>
            <a:srgbClr val="7A90B0"/>
          </a:solidFill>
          <a:ln w="12700">
            <a:solidFill>
              <a:srgbClr val="7A90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618488"/>
            <a:ext cx="2500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537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12648" y="2679192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2880360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$348/yr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2519172" cy="7315"/>
          </a:xfrm>
          <a:prstGeom prst="rect">
            <a:avLst/>
          </a:prstGeom>
          <a:solidFill>
            <a:srgbClr val="7A90B0">
              <a:alpha val="30000"/>
            </a:srgbClr>
          </a:solidFill>
          <a:ln w="12700">
            <a:solidFill>
              <a:srgbClr val="7A90B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3246120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2648" y="3447288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Digital-only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collectors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399592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2648" y="4197096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AI Advisor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Valuations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727448"/>
            <a:ext cx="2519172" cy="7315"/>
          </a:xfrm>
          <a:prstGeom prst="rect">
            <a:avLst/>
          </a:prstGeom>
          <a:solidFill>
            <a:srgbClr val="7A90B0">
              <a:alpha val="25000"/>
            </a:srgbClr>
          </a:solidFill>
          <a:ln w="12700">
            <a:solidFill>
              <a:srgbClr val="7A90B0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481888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2648" y="5001768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31–52%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5330952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 TARGET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2648" y="5513832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members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5843016"/>
            <a:ext cx="2519172" cy="329184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5861304"/>
            <a:ext cx="2519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required (sold separately)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4700" y="1508760"/>
            <a:ext cx="2720340" cy="4754880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1508760"/>
            <a:ext cx="272034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4428" y="1618488"/>
            <a:ext cx="2500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06140" y="2057400"/>
            <a:ext cx="2537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424428" y="2679192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4428" y="2880360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$1,788/yr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6140" y="3154680"/>
            <a:ext cx="2519172" cy="7315"/>
          </a:xfrm>
          <a:prstGeom prst="rect">
            <a:avLst/>
          </a:prstGeom>
          <a:solidFill>
            <a:srgbClr val="4A9AE8">
              <a:alpha val="30000"/>
            </a:srgbClr>
          </a:solidFill>
          <a:ln w="12700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4428" y="3246120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24428" y="3447288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collectors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 bottles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4428" y="399592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24428" y="4197096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(3 cases)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Platform + Import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06140" y="4727448"/>
            <a:ext cx="2519172" cy="7315"/>
          </a:xfrm>
          <a:prstGeom prst="rect">
            <a:avLst/>
          </a:prstGeom>
          <a:solidFill>
            <a:srgbClr val="4A9AE8">
              <a:alpha val="25000"/>
            </a:srgbClr>
          </a:solidFill>
          <a:ln w="12700">
            <a:solidFill>
              <a:srgbClr val="4A9AE8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4428" y="481888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24428" y="5001768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24–47%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24428" y="5330952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 TARGET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424428" y="5513832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members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406140" y="5843016"/>
            <a:ext cx="2519172" cy="329184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4428" y="5861304"/>
            <a:ext cx="2519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$119/mo founding · 1 Sentinel included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1508760"/>
            <a:ext cx="2720340" cy="4754880"/>
          </a:xfrm>
          <a:prstGeom prst="rect">
            <a:avLst/>
          </a:prstGeom>
          <a:solidFill>
            <a:srgbClr val="0916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1508760"/>
            <a:ext cx="27203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46570" y="1581912"/>
            <a:ext cx="1280160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5910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36208" y="1819656"/>
            <a:ext cx="2500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VAULT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2057400"/>
            <a:ext cx="2537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$349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6236208" y="2679192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36208" y="2880360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$4,188/yr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3154680"/>
            <a:ext cx="2519172" cy="7315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3246120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36208" y="3447288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collectors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bottles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36208" y="399592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36208" y="4197096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Vault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Appraisal + Advisor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4727448"/>
            <a:ext cx="2519172" cy="7315"/>
          </a:xfrm>
          <a:prstGeom prst="rect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36208" y="481888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36208" y="5001768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42–58%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236208" y="5330952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 TARGET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36208" y="5513832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members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217920" y="5843016"/>
            <a:ext cx="2519172" cy="329184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5861304"/>
            <a:ext cx="2519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$299/mo founding · 2 Sentinels included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938260" y="1508760"/>
            <a:ext cx="2720340" cy="4754880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38260" y="1508760"/>
            <a:ext cx="272034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47988" y="1618488"/>
            <a:ext cx="2500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029700" y="2057400"/>
            <a:ext cx="2537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$999</a:t>
            </a:r>
            <a:endParaRPr lang="en-US" sz="3400" dirty="0"/>
          </a:p>
        </p:txBody>
      </p:sp>
      <p:sp>
        <p:nvSpPr>
          <p:cNvPr id="65" name="Text 63"/>
          <p:cNvSpPr/>
          <p:nvPr/>
        </p:nvSpPr>
        <p:spPr>
          <a:xfrm>
            <a:off x="9047988" y="2679192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047988" y="2880360"/>
            <a:ext cx="25008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$11,988/yr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029700" y="3154680"/>
            <a:ext cx="2519172" cy="7315"/>
          </a:xfrm>
          <a:prstGeom prst="rect">
            <a:avLst/>
          </a:prstGeom>
          <a:solidFill>
            <a:srgbClr val="4A9AE8">
              <a:alpha val="30000"/>
            </a:srgbClr>
          </a:solidFill>
          <a:ln w="12700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47988" y="3246120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047988" y="3447288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$500K+ collections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ultra-HNW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047988" y="399592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047988" y="4197096"/>
            <a:ext cx="2500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custody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Estate + MW advisor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029700" y="4727448"/>
            <a:ext cx="2519172" cy="7315"/>
          </a:xfrm>
          <a:prstGeom prst="rect">
            <a:avLst/>
          </a:prstGeom>
          <a:solidFill>
            <a:srgbClr val="4A9AE8">
              <a:alpha val="25000"/>
            </a:srgbClr>
          </a:solidFill>
          <a:ln w="12700">
            <a:solidFill>
              <a:srgbClr val="4A9AE8">
                <a:alpha val="2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47988" y="4818888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047988" y="5001768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54–69%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047988" y="5330952"/>
            <a:ext cx="2500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 TARGET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047988" y="5513832"/>
            <a:ext cx="250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members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9029700" y="5843016"/>
            <a:ext cx="2519172" cy="329184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47988" y="5861304"/>
            <a:ext cx="2519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$849/mo · 2 Sentinels + Bottle Probe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02920" y="6400800"/>
            <a:ext cx="11155680" cy="347472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" y="6419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members · Year 1 ARR: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337560" y="6400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$493,080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5257800" y="64190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$75K–$180K secondary revenue   =   $568K–$673K total Year 1 revenue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RATIONALE · PRIVATE VAULT TIER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member pays $4,188/year.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receive $37,000–$79,000 in value.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ratio 8:1 to 18:1.  Luxury benchmark 5:1 = members receive ×5 the value of their fee. We deliver 8×–18× — well inside comfortable territory.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57984"/>
            <a:ext cx="6400800" cy="621792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57984"/>
            <a:ext cx="45720" cy="621792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insurance 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054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Full-replacement via PURE, Chubb, AXA XL, or Berkley One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34840" y="22311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$8,000 – $20,000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25786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6400800" cy="621792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52928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premium at auction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custody chain adds 15–25% at sale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926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$22,500 – $37,500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34840" y="32735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6400800" cy="621792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47872"/>
            <a:ext cx="45720" cy="621792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21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signal intelligence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8953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Liv-ex timing adds 15–25% vs. off-cycle sales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34840" y="3621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$3,000 – $8,000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4840" y="39684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4242816"/>
            <a:ext cx="6400800" cy="621792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242816"/>
            <a:ext cx="45720" cy="621792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15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 access savings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5902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access to limited releases &amp; futures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43159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$1,500 – $5,000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3484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4937760"/>
            <a:ext cx="6400800" cy="621792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937760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010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Storage, appraisal &amp; estate docs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52852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avoidance + IRS-compliant custody records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34840" y="50109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$2,300 – $7,400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34840" y="53583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5632704"/>
            <a:ext cx="6400800" cy="621792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5632704"/>
            <a:ext cx="45720" cy="621792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705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Hurricane Emergency Protection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59801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20–35% insurer discount may offset membership cost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57058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 – $1,100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434840" y="60533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6345936"/>
            <a:ext cx="6400800" cy="402336"/>
          </a:xfrm>
          <a:prstGeom prst="rect">
            <a:avLst/>
          </a:prstGeom>
          <a:solidFill>
            <a:srgbClr val="7A6430">
              <a:alpha val="65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373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VALUE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11880" y="63459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$37,600 – $79,000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360920" y="23774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RATIO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360920" y="2651760"/>
            <a:ext cx="4389120" cy="2286000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2743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8× – 18×</a:t>
            </a:r>
            <a:endParaRPr lang="en-US" sz="5000" dirty="0"/>
          </a:p>
        </p:txBody>
      </p:sp>
      <p:sp>
        <p:nvSpPr>
          <p:cNvPr id="48" name="Text 46"/>
          <p:cNvSpPr/>
          <p:nvPr/>
        </p:nvSpPr>
        <p:spPr>
          <a:xfrm>
            <a:off x="754380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vs. price paid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35240" y="4041648"/>
            <a:ext cx="3840480" cy="7315"/>
          </a:xfrm>
          <a:prstGeom prst="rect">
            <a:avLst/>
          </a:prstGeom>
          <a:solidFill>
            <a:srgbClr val="1C2D46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4096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benchmark: 5× (private club industry standard)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60920" y="50840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+ HURRICANE OFFSET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60920" y="5303520"/>
            <a:ext cx="4389120" cy="1426464"/>
          </a:xfrm>
          <a:prstGeom prst="rect">
            <a:avLst/>
          </a:prstGeom>
          <a:solidFill>
            <a:srgbClr val="0D1E3A"/>
          </a:solidFill>
          <a:ln w="12700">
            <a:solidFill>
              <a:srgbClr val="2F7FD4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5376672"/>
            <a:ext cx="4023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Caveau's certified storage + Sentinel monitoring + hurricane evacuation protocol can earn a 20–35% insurer discount. On a $150K collection, that's $300–$790/yr in premium savings — approaching break-even on the service for top-tier members. The hurricane service is included in Private Vault and Estate tiers at no extra charge.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43800" y="6409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 ·  Chubb  ·  AXA XL  ·  Berkley 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STORY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white-glove experience scales.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advisors don't.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910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question investors ask every luxury platform. Here is our answer.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12848"/>
            <a:ext cx="5440680" cy="4069080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12848"/>
            <a:ext cx="5440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408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0–500 MEMBERS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285292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advisor handles all portfolio questions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41985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3284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calls for exit guidance and sourcing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98678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8953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certified appraisal reports for insurance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55371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4622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manually reviews collection migrations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12064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029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advisor per 40–60 members (industry standard)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212848"/>
            <a:ext cx="5440680" cy="4069080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212848"/>
            <a:ext cx="544068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3408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  ·  5,000+ MEMBERS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2852928"/>
            <a:ext cx="109728" cy="109728"/>
          </a:xfrm>
          <a:prstGeom prst="ellipse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handles 85–90% of portfolio Q&amp;A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419856"/>
            <a:ext cx="109728" cy="109728"/>
          </a:xfrm>
          <a:prstGeom prst="ellipse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3284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signals auto-surfaced from live Liv-ex feeds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986784"/>
            <a:ext cx="109728" cy="109728"/>
          </a:xfrm>
          <a:prstGeom prst="ellipse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8953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reports generated on-demand by 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4553712"/>
            <a:ext cx="109728" cy="109728"/>
          </a:xfrm>
          <a:prstGeom prst="ellipse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44622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migration automated via CSV parser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5120640"/>
            <a:ext cx="109728" cy="109728"/>
          </a:xfrm>
          <a:prstGeom prst="ellipse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5029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advisor per 300–500 members (AI-assisted)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64E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502920" y="5888736"/>
            <a:ext cx="11155680" cy="768096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943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1 human advisor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6108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$80–120K/yr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5800" y="63825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50 members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74720" y="5943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AI Advisor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0" y="6108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~$8K/yr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474720" y="63825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5,000 members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63640" y="5943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shift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3640" y="6108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 better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263640" y="63825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5,000 members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052560" y="5943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052560" y="6108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48–55%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052560" y="63825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target member mix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7090A"/>
          </a:solidFill>
          <a:ln w="12700">
            <a:solidFill>
              <a:srgbClr val="0709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9443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locked for life.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available before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005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window closes: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1, 2028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513892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84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real urgency without desperation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48640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431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NWWF Jan 2027 — first founding member activation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83387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779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members = evangelist network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618134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126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lock — $600/yr reason never to cancel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PRICING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43891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in your rate before we open.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0" y="9692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never increases for founding members who maintain continuous membership.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325880"/>
            <a:ext cx="708660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481328"/>
            <a:ext cx="7132320" cy="969264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5361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17190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$29/mo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01000" y="1755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392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price $29/mo
(no founding discount)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49840" y="1645920"/>
            <a:ext cx="1371600" cy="457200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0" y="16642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$120/yr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578608"/>
            <a:ext cx="7132320" cy="969264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633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66560" y="28163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$149/mo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01000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03920" y="2633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$119/mo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149840" y="2743200"/>
            <a:ext cx="1371600" cy="457200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27614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$360/yr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675888"/>
            <a:ext cx="7132320" cy="969264"/>
          </a:xfrm>
          <a:prstGeom prst="rect">
            <a:avLst/>
          </a:prstGeom>
          <a:solidFill>
            <a:srgbClr val="0916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3675888"/>
            <a:ext cx="7132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03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VAULT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7307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66560" y="39136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$349/mo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001000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03920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3913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$299/mo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10149840" y="3840480"/>
            <a:ext cx="1371600" cy="457200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4984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$600/yr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0" y="4773168"/>
            <a:ext cx="7132320" cy="969264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901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58000" y="4828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0" y="50109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$999/mo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001000" y="5047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03920" y="4828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12480" y="5010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$849/mo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149840" y="4937760"/>
            <a:ext cx="1371600" cy="457200"/>
          </a:xfrm>
          <a:prstGeom prst="rect">
            <a:avLst/>
          </a:prstGeom>
          <a:solidFill>
            <a:srgbClr val="7A6430">
              <a:alpha val="5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49840" y="49560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$1,800/yr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0" y="6291072"/>
            <a:ext cx="7132320" cy="457200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631850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Founding members also receive: 90-day Private Vault trial · Welcome appraisal · Founding Circle status · Day 1 allocation access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is the foundation.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compounds across ten streams.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922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TIERS  ·  YEAR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2743200" cy="1572768"/>
          </a:xfrm>
          <a:prstGeom prst="rect">
            <a:avLst/>
          </a:prstGeom>
          <a:solidFill>
            <a:srgbClr val="0D1E3A"/>
          </a:solidFill>
          <a:ln w="9525">
            <a:solidFill>
              <a:srgbClr val="7A90B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75104"/>
            <a:ext cx="2743200" cy="54864"/>
          </a:xfrm>
          <a:prstGeom prst="rect">
            <a:avLst/>
          </a:prstGeom>
          <a:solidFill>
            <a:srgbClr val="7A90B0"/>
          </a:solidFill>
          <a:ln w="12700">
            <a:solidFill>
              <a:srgbClr val="7A90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$29/mo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798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+ AI · Sentinel purchase required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127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members · $20,880 ARR + $24K Sentinel revenue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975104"/>
            <a:ext cx="2743200" cy="1572768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975104"/>
            <a:ext cx="274320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377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$149/mo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2798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127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members · $142,920 ARR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975104"/>
            <a:ext cx="2743200" cy="157276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975104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Vault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$349/mo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2798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vault + full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127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members · $209,400 ARR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69680" y="1975104"/>
            <a:ext cx="2743200" cy="1572768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1975104"/>
            <a:ext cx="274320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2377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$999/mo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52560" y="2798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· by application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52560" y="3127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members · $119,880 ARR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675888"/>
            <a:ext cx="11155680" cy="347472"/>
          </a:xfrm>
          <a:prstGeom prst="rect">
            <a:avLst/>
          </a:prstGeom>
          <a:solidFill>
            <a:srgbClr val="0D1E3A"/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694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Subscription ARR: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03320" y="3675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$493,080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806440" y="36941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members across 4 tiers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133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REVENUE STREAMS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4315968"/>
            <a:ext cx="2743200" cy="190195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315968"/>
            <a:ext cx="45720" cy="190195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4088" y="488289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Facilitation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" y="5230368"/>
            <a:ext cx="2459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10–12% commission on member exits via Liv-ex, Christie's, or private sale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" y="5852160"/>
            <a:ext cx="2606040" cy="7315"/>
          </a:xfrm>
          <a:prstGeom prst="rect">
            <a:avLst/>
          </a:prstGeom>
          <a:solidFill>
            <a:srgbClr val="2F7FD4">
              <a:alpha val="25000"/>
            </a:srgbClr>
          </a:solidFill>
          <a:ln w="12700">
            <a:solidFill>
              <a:srgbClr val="2F7FD4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5888736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$30K–$65K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91840" y="4315968"/>
            <a:ext cx="2743200" cy="190195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4315968"/>
            <a:ext cx="45720" cy="190195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493008" y="488289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Referrals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93008" y="5230368"/>
            <a:ext cx="2459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fees from PURE, Chubb, AXA XL on specialist wine policy placements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83280" y="5852160"/>
            <a:ext cx="2606040" cy="7315"/>
          </a:xfrm>
          <a:prstGeom prst="rect">
            <a:avLst/>
          </a:prstGeom>
          <a:solidFill>
            <a:srgbClr val="2F7FD4">
              <a:alpha val="25000"/>
            </a:srgbClr>
          </a:solidFill>
          <a:ln w="12700">
            <a:solidFill>
              <a:srgbClr val="2F7FD4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93008" y="5888736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$10K–$25K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80760" y="4315968"/>
            <a:ext cx="2743200" cy="190195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4315968"/>
            <a:ext cx="45720" cy="190195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192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281928" y="488289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Sourcing Margin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81928" y="5230368"/>
            <a:ext cx="2459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margin on bottles sourced through Liv-ex or Caveau's private network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72200" y="5852160"/>
            <a:ext cx="2606040" cy="7315"/>
          </a:xfrm>
          <a:prstGeom prst="rect">
            <a:avLst/>
          </a:prstGeom>
          <a:solidFill>
            <a:srgbClr val="2F7FD4">
              <a:alpha val="25000"/>
            </a:srgbClr>
          </a:solidFill>
          <a:ln w="12700">
            <a:solidFill>
              <a:srgbClr val="2F7FD4">
                <a:alpha val="2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81928" y="5888736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$10K–$30K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869680" y="4315968"/>
            <a:ext cx="2743200" cy="1901952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69680" y="4315968"/>
            <a:ext cx="45720" cy="190195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708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🥂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9070848" y="488289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+ Sponsorship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070848" y="5230368"/>
            <a:ext cx="2459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$450–$1,200/seat on ticketed events · estate and merchant sponsorships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961120" y="5852160"/>
            <a:ext cx="2606040" cy="7315"/>
          </a:xfrm>
          <a:prstGeom prst="rect">
            <a:avLst/>
          </a:prstGeom>
          <a:solidFill>
            <a:srgbClr val="2F7FD4">
              <a:alpha val="25000"/>
            </a:srgbClr>
          </a:solidFill>
          <a:ln w="12700">
            <a:solidFill>
              <a:srgbClr val="2F7FD4">
                <a:alpha val="2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0848" y="5888736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$25K–$60K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02920" y="6382512"/>
            <a:ext cx="11155680" cy="347472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 1 (subscription + secondary):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434840" y="64190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$568,000 – $673,000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81812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 48–55%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· YEAR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scenarios. One investment thesis.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a deliberate investment — vault buildout and member acquisition dominate costs. The model is built to scale.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2377440" cy="3986784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237744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68249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93852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members  ·  $4.7M AUC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" y="2212848"/>
            <a:ext cx="2121408" cy="7315"/>
          </a:xfrm>
          <a:prstGeom prst="rect">
            <a:avLst/>
          </a:prstGeom>
          <a:solidFill>
            <a:srgbClr val="4A9AE8">
              <a:alpha val="30000"/>
            </a:srgbClr>
          </a:solidFill>
          <a:ln w="12700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37744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257860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$308K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" y="303580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" y="323697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$271K (88%)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" y="369417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" y="389534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-$587K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7512" y="43525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(post-tax)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455371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-$464K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044952" y="1572768"/>
            <a:ext cx="2377440" cy="3986784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4952" y="1572768"/>
            <a:ext cx="23774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544" y="168249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9544" y="193852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members  ·  $15.0M AUC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212848"/>
            <a:ext cx="2121408" cy="7315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9544" y="237744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9544" y="257860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$620K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209544" y="303580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9544" y="323697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$552K (89%)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209544" y="369417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9544" y="389534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-$306K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209544" y="43525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(post-tax)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9544" y="455371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-$242K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586984" y="1572768"/>
            <a:ext cx="2377440" cy="3986784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86984" y="1572768"/>
            <a:ext cx="237744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51576" y="168249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51576" y="193852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members  ·  $25.4M AUC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15000" y="2212848"/>
            <a:ext cx="2121408" cy="7315"/>
          </a:xfrm>
          <a:prstGeom prst="rect">
            <a:avLst/>
          </a:prstGeom>
          <a:solidFill>
            <a:srgbClr val="3DD68C">
              <a:alpha val="30000"/>
            </a:srgbClr>
          </a:solidFill>
          <a:ln w="12700">
            <a:solidFill>
              <a:srgbClr val="3DD68C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51576" y="237744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51576" y="257860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$985K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751576" y="303580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51576" y="323697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$887K (90%)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751576" y="369417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51576" y="389534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+$29K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5751576" y="43525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(post-tax)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51576" y="455371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+$23K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502920" y="5980176"/>
            <a:ext cx="7461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 STRUCTURE  ·  BASE SCENARIO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" y="6236208"/>
            <a:ext cx="2519716" cy="438912"/>
          </a:xfrm>
          <a:prstGeom prst="rect">
            <a:avLst/>
          </a:prstGeom>
          <a:solidFill>
            <a:srgbClr val="0D1E3A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6236208"/>
            <a:ext cx="2519716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6309360"/>
            <a:ext cx="2419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— Dual Location (showroom + vault)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76072" y="6473952"/>
            <a:ext cx="24557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$295K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68356" y="6236208"/>
            <a:ext cx="2432752" cy="438912"/>
          </a:xfrm>
          <a:prstGeom prst="rect">
            <a:avLst/>
          </a:prstGeom>
          <a:solidFill>
            <a:srgbClr val="0D1E3A"/>
          </a:solidFill>
          <a:ln w="12700">
            <a:solidFill>
              <a:srgbClr val="4A9AE8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68356" y="6236208"/>
            <a:ext cx="2432752" cy="45720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1508" y="6309360"/>
            <a:ext cx="2332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(Sommelier $100K + Vault Ops $75K + MSC $110K)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141508" y="6473952"/>
            <a:ext cx="2368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$285K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46827" y="6236208"/>
            <a:ext cx="1171775" cy="438912"/>
          </a:xfrm>
          <a:prstGeom prst="rect">
            <a:avLst/>
          </a:prstGeom>
          <a:solidFill>
            <a:srgbClr val="0D1E3A"/>
          </a:solidFill>
          <a:ln w="12700">
            <a:solidFill>
              <a:srgbClr val="7A90B0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46827" y="6236208"/>
            <a:ext cx="1171775" cy="45720"/>
          </a:xfrm>
          <a:prstGeom prst="rect">
            <a:avLst/>
          </a:prstGeom>
          <a:solidFill>
            <a:srgbClr val="7A90B0"/>
          </a:solidFill>
          <a:ln w="12700">
            <a:solidFill>
              <a:srgbClr val="7A90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19979" y="6309360"/>
            <a:ext cx="10711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19979" y="6473952"/>
            <a:ext cx="11077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$140K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4322" y="6236208"/>
            <a:ext cx="1154382" cy="438912"/>
          </a:xfrm>
          <a:prstGeom prst="rect">
            <a:avLst/>
          </a:prstGeom>
          <a:solidFill>
            <a:srgbClr val="0D1E3A"/>
          </a:solidFill>
          <a:ln w="12700">
            <a:solidFill>
              <a:srgbClr val="364E6A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4322" y="6236208"/>
            <a:ext cx="1154382" cy="45720"/>
          </a:xfrm>
          <a:prstGeom prst="rect">
            <a:avLst/>
          </a:prstGeom>
          <a:solidFill>
            <a:srgbClr val="364E6A"/>
          </a:solidFill>
          <a:ln w="12700">
            <a:solidFill>
              <a:srgbClr val="364E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37474" y="6309360"/>
            <a:ext cx="105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+ Insurance + G&amp;A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37474" y="6473952"/>
            <a:ext cx="10903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$138K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165592" y="1572768"/>
            <a:ext cx="3584448" cy="4535424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170078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YEAR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48472" y="1938528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 absorbs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 buildout.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8348472" y="2651760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+ 3-person team are primary fixed costs. AI Advisor scales advisory without adding headcount.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348472" y="3310128"/>
            <a:ext cx="3401568" cy="7315"/>
          </a:xfrm>
          <a:prstGeom prst="rect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48472" y="338328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HIRING CONTINGENCY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348472" y="358444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MSC hire delayed if &lt;94 members at Month 6. Saves $35K, improves EBITDA by $35K.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348472" y="4005072"/>
            <a:ext cx="3401568" cy="7315"/>
          </a:xfrm>
          <a:prstGeom prst="rect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48472" y="407822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348472" y="4315968"/>
            <a:ext cx="3218688" cy="438912"/>
          </a:xfrm>
          <a:prstGeom prst="rect">
            <a:avLst/>
          </a:prstGeom>
          <a:solidFill>
            <a:srgbClr val="0D1E3A"/>
          </a:solidFill>
          <a:ln w="12700">
            <a:solidFill>
              <a:srgbClr val="4A9AE8">
                <a:alpha val="2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39912" y="4425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25712" y="4425696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 by Year 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348472" y="4864608"/>
            <a:ext cx="3218688" cy="438912"/>
          </a:xfrm>
          <a:prstGeom prst="rect">
            <a:avLst/>
          </a:prstGeom>
          <a:solidFill>
            <a:srgbClr val="0D1E3A"/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39912" y="49743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25712" y="4974336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 by Year 2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348472" y="5413248"/>
            <a:ext cx="3218688" cy="438912"/>
          </a:xfrm>
          <a:prstGeom prst="rect">
            <a:avLst/>
          </a:prstGeom>
          <a:solidFill>
            <a:srgbClr val="0D1E3A"/>
          </a:solidFill>
          <a:ln w="12700">
            <a:solidFill>
              <a:srgbClr val="3DD68C">
                <a:alpha val="2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39912" y="55229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25712" y="5522976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 by Year 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· 3 / 5 / 10 YEAR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is the anchor.</a:t>
            </a:r>
            <a:endParaRPr lang="en-US" sz="2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revenue builds the business.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7178040" cy="310896"/>
          </a:xfrm>
          <a:prstGeom prst="rect">
            <a:avLst/>
          </a:prstGeom>
          <a:solidFill>
            <a:srgbClr val="0F1A2E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7922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216152" y="17922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176272" y="17922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19272" y="1792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09160" y="17922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824728" y="17922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7178040" cy="768096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4086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34086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340864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$620K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3408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$552K (89%)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27448" y="23408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-$306K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43016" y="2340864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-$242K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980944"/>
            <a:ext cx="7178040" cy="768096"/>
          </a:xfrm>
          <a:prstGeom prst="rect">
            <a:avLst/>
          </a:prstGeom>
          <a:solidFill>
            <a:srgbClr val="091628"/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80944"/>
            <a:ext cx="36576" cy="7680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186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21868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321868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2186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$1.3M (91%)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27448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+$130K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43016" y="321868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+$103K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858768"/>
            <a:ext cx="7178040" cy="768096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9651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409651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409651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$3.1M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4096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$2.8M (92%)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27448" y="4096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+$1.5M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43016" y="409651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+$1.2M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4736592"/>
            <a:ext cx="7178040" cy="768096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9743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34440" y="49743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194560" y="497433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$7.8M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37560" y="49743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$7.3M (94%)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27448" y="49743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+$4.9M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843016" y="497433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+$3.9M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2920" y="5614416"/>
            <a:ext cx="7178040" cy="768096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85216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34440" y="585216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A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194560" y="585216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$17.3M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337560" y="5852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$16.3M(94%)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27448" y="5852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+$11.6M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843016" y="585216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+$9.1M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02920" y="6455664"/>
            <a:ext cx="7178040" cy="292608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6473952"/>
            <a:ext cx="3314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RANGE  ·  Y5: $2.0M rev / $1.0M EBITDA    ·    Y10: $3.5M rev / $2.1M EBITDA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137660" y="6473952"/>
            <a:ext cx="3314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RANGE  ·  Y5: $22.1M rev / $15.0M EBITDA  ·    Y10: $54.7M rev / $38.8M EBITDA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909560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 ·  BASE Y3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909560" y="2011680"/>
            <a:ext cx="38404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2011680"/>
            <a:ext cx="1520830" cy="38404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19288" y="2048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Sponsorship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19288" y="22128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$1224K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909560" y="2523744"/>
            <a:ext cx="38404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09560" y="2523744"/>
            <a:ext cx="568391" cy="384048"/>
          </a:xfrm>
          <a:prstGeom prst="rect">
            <a:avLst/>
          </a:prstGeom>
          <a:solidFill>
            <a:srgbClr val="4A9AE8">
              <a:alpha val="35000"/>
            </a:srgbClr>
          </a:solidFill>
          <a:ln w="12700">
            <a:solidFill>
              <a:srgbClr val="4A9AE8">
                <a:alpha val="3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19288" y="2560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Facilitation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019288" y="27249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$458K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909560" y="3035808"/>
            <a:ext cx="38404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09560" y="3035808"/>
            <a:ext cx="1532352" cy="384048"/>
          </a:xfrm>
          <a:prstGeom prst="rect">
            <a:avLst/>
          </a:prstGeom>
          <a:solidFill>
            <a:srgbClr val="7A90B0">
              <a:alpha val="35000"/>
            </a:srgbClr>
          </a:solidFill>
          <a:ln w="12700">
            <a:solidFill>
              <a:srgbClr val="7A90B0">
                <a:alpha val="3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9288" y="30723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Sub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19288" y="32369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$1233K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909560" y="3547872"/>
            <a:ext cx="38404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09560" y="3547872"/>
            <a:ext cx="218907" cy="384048"/>
          </a:xfrm>
          <a:prstGeom prst="rect">
            <a:avLst/>
          </a:prstGeom>
          <a:solidFill>
            <a:srgbClr val="364E6A">
              <a:alpha val="35000"/>
            </a:srgbClr>
          </a:solidFill>
          <a:ln w="12700">
            <a:solidFill>
              <a:srgbClr val="364E6A">
                <a:alpha val="3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19288" y="3584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+ Other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19288" y="37490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$177K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909560" y="4078224"/>
            <a:ext cx="3840480" cy="274320"/>
          </a:xfrm>
          <a:prstGeom prst="rect">
            <a:avLst/>
          </a:prstGeom>
          <a:solidFill>
            <a:srgbClr val="7A6430">
              <a:alpha val="60000"/>
            </a:srgbClr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19288" y="4096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Y3 Revenue: $3.1M  ·  EBITDA: $1.5M (47%)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046720" y="4517136"/>
            <a:ext cx="3566160" cy="822960"/>
          </a:xfrm>
          <a:prstGeom prst="rect">
            <a:avLst/>
          </a:prstGeom>
          <a:solidFill>
            <a:srgbClr val="0F3D72">
              <a:alpha val="60000"/>
            </a:srgbClr>
          </a:solidFill>
          <a:ln w="12700">
            <a:solidFill>
              <a:srgbClr val="2F7FD4">
                <a:alpha val="3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65592" y="459028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vault pays for itself from Day 1.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revenue — events, exits, insurance — is pure margin on top.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locations. Ten revenue streams.</a:t>
            </a:r>
            <a:endParaRPr lang="en-US" sz="2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square foot earns.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19072"/>
            <a:ext cx="3657600" cy="512064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19072"/>
            <a:ext cx="3657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10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AVE SHOWROOM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9224" y="2011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experience · events · prestige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60520" y="1719072"/>
            <a:ext cx="2286000" cy="512064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19072"/>
            <a:ext cx="228600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18105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VAULT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06824" y="2011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· storage · logistics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46520" y="1719072"/>
            <a:ext cx="5212080" cy="512064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719072"/>
            <a:ext cx="521208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BOTH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92824" y="201168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+ transaction revenue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267712"/>
            <a:ext cx="111556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33172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Events &amp; Tastings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720" y="2304288"/>
            <a:ext cx="1783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04872" y="2313432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$450–$1,200/seat · 8–12 events/yr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04872" y="2445225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$25K–$60K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679192"/>
            <a:ext cx="11155680" cy="384048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74320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Sponsor Events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2715768"/>
            <a:ext cx="1783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04872" y="2724912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dinners · merchant sponsors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04872" y="286664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$15K–$40K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090672"/>
            <a:ext cx="111556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15468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Memberships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3127248"/>
            <a:ext cx="22402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33672" y="3136392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Vault &amp; Estate - core ARR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206240" y="3290250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$350K–$420K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3502152"/>
            <a:ext cx="11155680" cy="384048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56616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Referrals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60520" y="3538728"/>
            <a:ext cx="22402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33672" y="3547872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· Chubb · AXA XL - 15% of annual premium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224528" y="3708489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$10K–$25K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3913632"/>
            <a:ext cx="111556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9776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Emergency Protection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60520" y="3950208"/>
            <a:ext cx="22402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24528" y="4009644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 vault before landfall · 20–35% insurer discount may offset membership cost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14603" y="4133088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$15K–$40K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4325112"/>
            <a:ext cx="11155680" cy="384048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438912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&amp; Estate Docs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31720" y="4361688"/>
            <a:ext cx="1783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04872" y="4370832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appraisals · insurance certs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14016" y="451256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$5K–$15K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60520" y="4361688"/>
            <a:ext cx="22402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4A9AE8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33672" y="4370832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valuations at intake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224528" y="4553712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$8K–$20K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2920" y="4736592"/>
            <a:ext cx="11155680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" y="480060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Facilitation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46520" y="4773168"/>
            <a:ext cx="5212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3DD68C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9672" y="478231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10–12% commission via Liv-ex, Christie's, or private sale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287000" y="4782312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$30K–$65K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5148072"/>
            <a:ext cx="11155680" cy="384048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" y="521208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Sourcing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46520" y="5184648"/>
            <a:ext cx="5212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3DD68C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9672" y="519379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margin on bottles sourced for members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287000" y="5193792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$10K–$30K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02920" y="5559552"/>
            <a:ext cx="111556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" y="562356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(Collector)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46520" y="5596128"/>
            <a:ext cx="5212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3DD68C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9672" y="560527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 · app + AI · entry funnel to storage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287000" y="5605272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$21K est.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" y="5971032"/>
            <a:ext cx="11155680" cy="384048"/>
          </a:xfrm>
          <a:prstGeom prst="rect">
            <a:avLst/>
          </a:prstGeom>
          <a:solidFill>
            <a:srgbClr val="091628"/>
          </a:solidFill>
          <a:ln w="12700">
            <a:solidFill>
              <a:srgbClr val="1C2D4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648" y="60350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Cellar Program (Year 2)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331720" y="6007608"/>
            <a:ext cx="1783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04872" y="6016752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consult · certified install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395728" y="615848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$3K–$6K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46520" y="6007608"/>
            <a:ext cx="5212080" cy="347472"/>
          </a:xfrm>
          <a:prstGeom prst="rect">
            <a:avLst/>
          </a:prstGeom>
          <a:solidFill>
            <a:srgbClr val="091628"/>
          </a:solidFill>
          <a:ln w="12700">
            <a:solidFill>
              <a:srgbClr val="3DD68C">
                <a:alpha val="3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19672" y="601675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sensor data + exit fees continue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0287000" y="6016752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$80K–$180K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02920" y="6382512"/>
            <a:ext cx="11155680" cy="365760"/>
          </a:xfrm>
          <a:prstGeom prst="rect">
            <a:avLst/>
          </a:prstGeom>
          <a:solidFill>
            <a:srgbClr val="060A12"/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Revenue (Base):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977640" y="6400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$620K base  ·  range $568K–$673K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736092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pays for the vault. Everything else is margin.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$4B market with no institutional-grade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3718560" cy="1691640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7185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55648"/>
            <a:ext cx="344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344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fine wine investment market annual trade value (Liv-ex 2024)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21480" y="1371600"/>
            <a:ext cx="3718560" cy="1691640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1480" y="1371600"/>
            <a:ext cx="3718560" cy="54864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4360" y="1481328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04360" y="1755648"/>
            <a:ext cx="344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$680M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04360" y="2487168"/>
            <a:ext cx="344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EU private collector market — HNW individuals with $25K–$500K collections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40040" y="1371600"/>
            <a:ext cx="3718560" cy="1691640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40040" y="1371600"/>
            <a:ext cx="371856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2920" y="1481328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22920" y="1755648"/>
            <a:ext cx="344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2920" y="2487168"/>
            <a:ext cx="344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Naples, Fort Myers &amp; Miami Year 3 serviceable market — 1,200 members at blended $32K ARRPU* (*Avg. Recurring Revenue Per User)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73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NAPLES, FLORIDA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438144"/>
            <a:ext cx="187452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639312"/>
            <a:ext cx="1545336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7512" y="5179162"/>
            <a:ext cx="154533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WEALTHIEST METRO PER CAPITA IN THE 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23160" y="3438144"/>
            <a:ext cx="187452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3639312"/>
            <a:ext cx="1545336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587752" y="5179162"/>
            <a:ext cx="154533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HOUSEHOLDS ARE HNW ($1M+ INVESTABLE ASSETS)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3438144"/>
            <a:ext cx="187452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3639312"/>
            <a:ext cx="1545336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507992" y="5179162"/>
            <a:ext cx="154533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PROFESSIONAL WINE STORAGE FOR COLLECTORS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3438144"/>
            <a:ext cx="187452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639312"/>
            <a:ext cx="1545336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9mo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28232" y="5179162"/>
            <a:ext cx="154533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RESIDENCY DRIVES COLLECTION CONCENTRATION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83880" y="3438144"/>
            <a:ext cx="347472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3547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ROADMAP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48472" y="3803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Naples, FL (Year 1)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48472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Fort Myers + Miami, FL (Year 2)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48472" y="4498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Napa Valley, CA (Year 3)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48472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Palm Beach, FL (Year 3)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48472" y="5193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Dallas, TX (Year 4)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48472" y="5541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New York City (Year 5)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walls. Built to be uncopyable.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61872"/>
            <a:ext cx="11155680" cy="56692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07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52728" y="13167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Vault + Sentinel™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52728" y="157276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Ave showroom + airport vault. Caveau Sentinel™: UV, vibration, bottle probe accessory (liquid temp inside the bottle — no competitor offers this), LTE-M cellular fallback that transmits through power outages. Best competitor sensor? A $20 Govee. Patent filing in progress.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1155680" cy="566928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01952"/>
            <a:ext cx="45720" cy="566928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208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52728" y="1956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Advisor, Trained on Your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221284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learns from every member interaction, portfolio move, and market event. The model improves continuously. A competitor starting today has no training data.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542032"/>
            <a:ext cx="11155680" cy="566928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542032"/>
            <a:ext cx="45720" cy="566928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609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52728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Concierge Migration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52728" y="28529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remove the #1 switching barrier: data re-entry. A 48-hour white-glove import from any platform means members who join, stay. Churn approaches zero.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182112"/>
            <a:ext cx="11155680" cy="56692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82112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009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52728" y="32369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Chain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52728" y="349300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appraisal, and transaction records create a documented custody chain worth 15–25% auction premium. This only exists after years of continuous custody.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822192"/>
            <a:ext cx="11155680" cy="566928"/>
          </a:xfrm>
          <a:prstGeom prst="rect">
            <a:avLst/>
          </a:prstGeom>
          <a:solidFill>
            <a:srgbClr val="0D1E3A"/>
          </a:solidFill>
          <a:ln w="9525">
            <a:solidFill>
              <a:srgbClr val="4A9AE8">
                <a:alpha val="1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822192"/>
            <a:ext cx="45720" cy="566928"/>
          </a:xfrm>
          <a:prstGeom prst="rect">
            <a:avLst/>
          </a:prstGeom>
          <a:solidFill>
            <a:srgbClr val="4A9AE8"/>
          </a:solidFill>
          <a:ln w="12700">
            <a:solidFill>
              <a:srgbClr val="4A9A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410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52728" y="38770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Partnership Moat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52728" y="413308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Chubb, and AXA XL don't write preferred rates for just anyone. Our certified appraisals and IoT documentation make Caveau members their best risks. That relationship is earned, not bought.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4462272"/>
            <a:ext cx="11155680" cy="566928"/>
          </a:xfrm>
          <a:prstGeom prst="rect">
            <a:avLst/>
          </a:prstGeom>
          <a:solidFill>
            <a:srgbClr val="0D1E3A"/>
          </a:solidFill>
          <a:ln w="9525">
            <a:solidFill>
              <a:srgbClr val="3DD68C">
                <a:alpha val="13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462272"/>
            <a:ext cx="45720" cy="566928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5811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52728" y="4517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&amp; Community Network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52728" y="477316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Naples collector events create social lock-in no app feature can replicate. Members refer members. The network compounds year over year.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5102352"/>
            <a:ext cx="11155680" cy="566928"/>
          </a:xfrm>
          <a:prstGeom prst="rect">
            <a:avLst/>
          </a:prstGeom>
          <a:solidFill>
            <a:srgbClr val="0D1E3A"/>
          </a:solidFill>
          <a:ln w="9525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5102352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221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52728" y="5157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Certified Home Cellar Network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52728" y="541324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Caveau-branded IoT sensors + certified installers extend our infrastructure into member homes. Every certified cellar is a physical node on our network — a competitor can't copy the vault and the home network.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6144768"/>
            <a:ext cx="11155680" cy="420624"/>
          </a:xfrm>
          <a:prstGeom prst="rect">
            <a:avLst/>
          </a:prstGeom>
          <a:solidFill>
            <a:srgbClr val="091628"/>
          </a:solidFill>
          <a:ln w="12700">
            <a:solidFill>
              <a:srgbClr val="2F7FD4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6163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HASN'T THIS BEEN BUILT?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37560" y="61630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operators built for volume, not intelligence. The AI layer didn't exist until now. And the sensor gap is staggering — InVintory's top tier integrates a $20 Govee Amazon device into $500K collections. Caveau is the first purpose-built luxury wine investment platform with proprietary IoT hardware. Patent filing in progress.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7090A"/>
          </a:solidFill>
          <a:ln w="12700">
            <a:solidFill>
              <a:srgbClr val="0709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800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with Confidence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 – $2.2M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34381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Catalyst sale proceeds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co-investor capital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Delaware C-Corp  ·  FL counsel</a:t>
            </a:r>
            <a:r>
              <a:rPr lang="en-US" sz="90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TBD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4535424"/>
            <a:ext cx="91440" cy="91440"/>
          </a:xfrm>
          <a:prstGeom prst="ellipse">
            <a:avLst/>
          </a:prstGeom>
          <a:solidFill>
            <a:srgbClr val="7A6430"/>
          </a:solidFill>
          <a:ln w="12700">
            <a:solidFill>
              <a:srgbClr val="7A6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buildout + equipment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90672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$400–550K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4937760"/>
            <a:ext cx="91440" cy="91440"/>
          </a:xfrm>
          <a:prstGeom prst="ellipse">
            <a:avLst/>
          </a:prstGeom>
          <a:solidFill>
            <a:srgbClr val="7A6430"/>
          </a:solidFill>
          <a:ln w="12700">
            <a:solidFill>
              <a:srgbClr val="7A6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882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(app, AI, APIs, Sentinel)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90672" y="4882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$200–300K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340096"/>
            <a:ext cx="91440" cy="91440"/>
          </a:xfrm>
          <a:prstGeom prst="ellipse">
            <a:avLst/>
          </a:prstGeom>
          <a:solidFill>
            <a:srgbClr val="7A6430"/>
          </a:solidFill>
          <a:ln w="12700">
            <a:solidFill>
              <a:srgbClr val="7A6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working capital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90672" y="5285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$200–300K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5742432"/>
            <a:ext cx="91440" cy="91440"/>
          </a:xfrm>
          <a:prstGeom prst="ellipse">
            <a:avLst/>
          </a:prstGeom>
          <a:solidFill>
            <a:srgbClr val="7A6430"/>
          </a:solidFill>
          <a:ln w="12700">
            <a:solidFill>
              <a:srgbClr val="7A6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687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R&amp;D + Patent + Marketing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90672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$150–300K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199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Rob@caveauwine.com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55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Naples, Florida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023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TIMELINE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658368"/>
            <a:ext cx="3401568" cy="175564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658368"/>
            <a:ext cx="45720" cy="1755648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80467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2026–Q1 2027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0" y="10789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Catalyst Close + Build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1426464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development begins. Liv-ex API signed. Naples lease executed. Head Sommelier hired. NWWF Jan 30–Feb 1, 2027 — founding member waitlist launch.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94192" y="658368"/>
            <a:ext cx="3401568" cy="175564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658368"/>
            <a:ext cx="45720" cy="1755648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7072" y="80467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577072" y="10789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 Construction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577072" y="1426464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Ave South showroom fit-out + industrial vault near Naples Airport. Generator backup, above flood zone, post-Ian FL building code. Hurricane-resilient by design.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532888"/>
            <a:ext cx="3401568" cy="1755648"/>
          </a:xfrm>
          <a:prstGeom prst="rect">
            <a:avLst/>
          </a:prstGeom>
          <a:solidFill>
            <a:srgbClr val="0916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532888"/>
            <a:ext cx="34015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67919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0" y="295351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Launch ★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0" y="3300984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founding members onboarded. Vault operational. PURE/Chubb partnerships signed. Founding pricing open.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94192" y="2532888"/>
            <a:ext cx="3401568" cy="175564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94192" y="2532888"/>
            <a:ext cx="45720" cy="1755648"/>
          </a:xfrm>
          <a:prstGeom prst="rect">
            <a:avLst/>
          </a:prstGeom>
          <a:solidFill>
            <a:srgbClr val="364E6A"/>
          </a:solidFill>
          <a:ln w="12700">
            <a:solidFill>
              <a:srgbClr val="364E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7072" y="267919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77072" y="295351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Launch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577072" y="3300984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marketing live. 200 member target. $15M AUC. Founding pricing window closes Jan 1, 2028.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4407408"/>
            <a:ext cx="3401568" cy="175564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4407408"/>
            <a:ext cx="45720" cy="1755648"/>
          </a:xfrm>
          <a:prstGeom prst="rect">
            <a:avLst/>
          </a:prstGeom>
          <a:solidFill>
            <a:srgbClr val="364E6A"/>
          </a:solidFill>
          <a:ln w="12700">
            <a:solidFill>
              <a:srgbClr val="364E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455371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029200" y="48280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 Florida + Miami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029200" y="5175504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Myers + Miami vaults. 500 members. Insurance referral revenue ramp. Second MSC hired; Sommelier focus shifts to regional events.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94192" y="4407408"/>
            <a:ext cx="3401568" cy="1755648"/>
          </a:xfrm>
          <a:prstGeom prst="rect">
            <a:avLst/>
          </a:prstGeom>
          <a:solidFill>
            <a:srgbClr val="0D1E3A"/>
          </a:solidFill>
          <a:ln w="9525">
            <a:solidFill>
              <a:srgbClr val="1C2D4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94192" y="4407408"/>
            <a:ext cx="45720" cy="1755648"/>
          </a:xfrm>
          <a:prstGeom prst="rect">
            <a:avLst/>
          </a:prstGeom>
          <a:solidFill>
            <a:srgbClr val="364E6A"/>
          </a:solidFill>
          <a:ln w="12700">
            <a:solidFill>
              <a:srgbClr val="364E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7072" y="455371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6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77072" y="48280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Scale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577072" y="5175504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Napa, Palm Beach. 1,200 members. $3.1M revenue. AI handles 90% of advisory volume.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6199632"/>
            <a:ext cx="6995160" cy="566928"/>
          </a:xfrm>
          <a:prstGeom prst="rect">
            <a:avLst/>
          </a:prstGeom>
          <a:solidFill>
            <a:srgbClr val="0D1E3A"/>
          </a:solidFill>
          <a:ln w="1270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62362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43600" y="623620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Naples is greenfield  ·  Liv-ex commercial API now available  ·  Head Sommelier + hospitality operator on team  ·  AI makes white-glove scalable  ·  CellarTracker proved the demand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3698</Words>
  <Application>Microsoft Macintosh PowerPoint</Application>
  <PresentationFormat>Widescreen</PresentationFormat>
  <Paragraphs>666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Caveau — Investor Pitch Deck</dc:title>
  <dc:subject>PptxGenJS Presentation</dc:subject>
  <dc:creator>Rob Saenz</dc:creator>
  <cp:lastModifiedBy>Rob Saenz</cp:lastModifiedBy>
  <cp:revision>6</cp:revision>
  <dcterms:created xsi:type="dcterms:W3CDTF">2026-03-15T21:11:10Z</dcterms:created>
  <dcterms:modified xsi:type="dcterms:W3CDTF">2026-03-15T22:53:02Z</dcterms:modified>
</cp:coreProperties>
</file>